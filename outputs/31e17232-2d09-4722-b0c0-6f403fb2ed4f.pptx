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9"/>
    <p:sldId id="257" r:id="rId11"/>
    <p:sldId id="258" r:id="rId12"/>
    <p:sldId id="259" r:id="rId13"/>
    <p:sldId id="260" r:id="rId14"/>
    <p:sldId id="261" r:id="rId15"/>
    <p:sldId id="262" r:id="rId16"/>
    <p:sldId id="263" r:id="rId17"/>
    <p:sldId id="264" r:id="rId18"/>
    <p:sldId id="265" r:id="rId19"/>
    <p:sldId id="266" r:id="rId20"/>
    <p:sldId id="26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3" autoAdjust="0"/>
    <p:restoredTop sz="94660"/>
  </p:normalViewPr>
  <p:slideViewPr>
    <p:cSldViewPr snapToGrid="0">
      <p:cViewPr varScale="1">
        <p:scale>
          <a:sx n="102" d="100"/>
          <a:sy n="102" d="100"/>
        </p:scale>
        <p:origin x="19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attendees. This presentation provides a structured, evidence-based analysis of autonomous AI agents within public sector operations. We will examine tangible benefits, quantify risks, and outline governance requirements to support informed investment decisions. The goal is to align technological adoption with statutory mandates and fiscal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scope. We are moving beyond chatbots and predictive models to systems that can independently navigate workflows, access APIs, and trigger actions. This shift demands a new policy lens that addresses autonomy, accountability, and resource allocation. Traditional software procurement models are insufficient for this class of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terminology. Unlike traditional software, AI agents use large language models combined with tool-use capabilities to navigate internal systems. Tier 1 focuses on efficiency, Tier 2 on augmentation, and Tier 3 on autonomous execution. Each tier carries different risk profiles, integration complexities, and implementation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data. These metrics come from controlled deployments in revenue, licensing, and constituent services. The efficiency gains are not theoretical; they translate directly to budget reallocation and improved service level agreements. Note that gains plateau without proper change management and workflow redesign.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back-office efficiency, agents transform front-line engagement and strategic planning. They enable continuous service availability, democratize access to complex information, and provide policymakers with synthesized, real-time data. However, standardization must not compromise necessary human discretion in edge cases or vulnerable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risks. Autonomy amplifies both utility and vulnerability. Adversarial actors can manipulate agent inputs to bypass security controls. Hallucinations in legal contexts create compliance exposure. Vendor dependency threatens long-term sovereignty and budget predictability. These risks require proactive mitigation, not reactive patching.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the human and ethical dimensions. Public sector decisions carry legal weight; agents must provide explainable reasoning to satisfy due process. Bias mitigation requires continuous dataset auditing. Workforce transitions must be managed proactively to retain institutional memory and maintain morale. Public trust depends on transparent oversight.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realism is critical. While headline efficiency gains are compelling, total cost of ownership includes security hardening, compliance monitoring, and change management. Agencies must model break-even scenarios conservatively and allocate contingency budgets for iterative refinement. Underfunding governance guarantees project failure.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Mitigation is not optional. A robust framework combines technical safeguards like sandboxing and output validation with procedural controls like mandatory human oversight for high-stakes decisions. Independent oversight ensures accountability and aligns operations with federal and state mandates. Governance must be baked in, not bolted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readiness. Not all agencies are prepared for immediate scaling. A tiered approach ensures resources target viable use cases first. Agencies should self-assess against the four readiness dimensions before committing capital. This prevents wasted investment and mitigates early failure risks.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actionable guidance. Start with low-risk, high-volume processes to generate quick wins and fund expansion. Reserve budget for ongoing governance, not just initial deployment. Contractual safeguards protect against vendor lock-in and ensure auditability. Centralized procurement drives consistency and leverage across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clear calls to action. We request leadership endorsement of the phased pilot expansion, governance committee formation, and readiness assessments. These steps establish a controlled, accountable pathway to scale AI agent adoption while safeguarding public trust and fiscal responsibility. Thank you for your attention; I welcome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17B4D-F55B-07E8-1103-ABCA060EB1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103747F-2B09-8BEE-9234-36E918416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1015EC-E45C-0E20-017A-AC37CFC1EA40}"/>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3D8AA5FE-07B0-DE6E-D9C5-5771303591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C42866-45CC-AB31-6D51-CB9F5FE49F87}"/>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2098846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8FBD-1A0C-8D7A-ED79-054BF73C11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B38F65-7A12-DE63-C507-20F8AF057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1EA8F9-7E86-FC45-D5B4-D6B1DB6578CF}"/>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CB45380B-5F99-3E6A-8566-221E06C07F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8DA341-84B0-7E55-491C-BF46D52BD163}"/>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2102564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753D5-6CF9-1B8B-5AD6-4829C0F792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C9A2AB7-9A23-3CBF-FE9E-DA4BD5BBC4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91DD1C-A5F2-5B04-2FB9-1EB1BEA1D0EE}"/>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AA364713-BD9C-21A0-9724-7088C77AD8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9D6D97-CD4F-6981-8175-C0313C6DDB4C}"/>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110185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78BB-1632-25A7-0DC2-185C90CED1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C8F9C3-C4DB-63AF-2A83-E6234AD507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3026F7-7355-E152-13E3-D7A443D931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DCA3BC6-8FF4-FEBE-8506-3815339184D4}"/>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6" name="Footer Placeholder 5">
            <a:extLst>
              <a:ext uri="{FF2B5EF4-FFF2-40B4-BE49-F238E27FC236}">
                <a16:creationId xmlns:a16="http://schemas.microsoft.com/office/drawing/2014/main" id="{204A3DC4-CA3B-9F74-6B70-3C3409EF64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F4FFEE-AC00-E2B6-52CE-747696CA80CE}"/>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2788632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643C4-822F-DD5D-2435-3F55597328D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2EA702-C5F7-AE56-D048-C6F6E40FBC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E49021-F9F1-B878-2E14-33F6427091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EC03CF2-2FF7-906C-3156-B73C1CCA8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AB8ECB-E88F-B5F2-0D89-6B01AE86C8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BEA7541-33F5-3B98-F328-ED52B84E7E8B}"/>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8" name="Footer Placeholder 7">
            <a:extLst>
              <a:ext uri="{FF2B5EF4-FFF2-40B4-BE49-F238E27FC236}">
                <a16:creationId xmlns:a16="http://schemas.microsoft.com/office/drawing/2014/main" id="{7BDA1F3F-D3D2-A920-09CE-826CE6E2472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789FB0F-19AF-F2CB-BB64-C0045A42D0AD}"/>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375116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DCBD-7747-3DA8-141E-80A3336126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6759E12-0139-CC12-1DB9-13EA67F4E445}"/>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4" name="Footer Placeholder 3">
            <a:extLst>
              <a:ext uri="{FF2B5EF4-FFF2-40B4-BE49-F238E27FC236}">
                <a16:creationId xmlns:a16="http://schemas.microsoft.com/office/drawing/2014/main" id="{DBC9552E-7D86-0920-B3F6-045EB547709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C53EB25-4B81-E215-0043-0B4755EFFDFA}"/>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4251314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69A2AA-7D3E-9B0D-E7E4-286666002FF0}"/>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3" name="Footer Placeholder 2">
            <a:extLst>
              <a:ext uri="{FF2B5EF4-FFF2-40B4-BE49-F238E27FC236}">
                <a16:creationId xmlns:a16="http://schemas.microsoft.com/office/drawing/2014/main" id="{43028F49-651B-C690-D60D-505CE8A67E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D27C872-69F8-9FBC-871B-31D4AF1505DC}"/>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1129740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EEF31-D0E2-55E1-CD11-98D3C72D85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52FEE1-D8EF-31F2-74AE-FEB10686F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1F1C730-16F8-E7CF-599A-1C45A5C0A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B14D59-15ED-12CC-2310-B807A9105044}"/>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6" name="Footer Placeholder 5">
            <a:extLst>
              <a:ext uri="{FF2B5EF4-FFF2-40B4-BE49-F238E27FC236}">
                <a16:creationId xmlns:a16="http://schemas.microsoft.com/office/drawing/2014/main" id="{48E5266F-938A-751A-1927-1BAF4663B63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E7A6EF-F637-3D19-FF67-282C3B87C088}"/>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414720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23000-2F08-50C1-5886-055F0670F0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BDE11E5-E242-045A-114D-83F47E6AEE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0D5AC0-6185-799D-B5F6-DF5F545D0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4BCBE-970A-AA98-D67A-5C8D0F084A56}"/>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6" name="Footer Placeholder 5">
            <a:extLst>
              <a:ext uri="{FF2B5EF4-FFF2-40B4-BE49-F238E27FC236}">
                <a16:creationId xmlns:a16="http://schemas.microsoft.com/office/drawing/2014/main" id="{C4A06FB4-33AB-BF85-BC86-234CA2A7CB4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6476AC-CA9C-F07F-D88F-341FDC090946}"/>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3343460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869A7-CC01-109C-3BCE-00B9A3A7A86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C035E55-B716-2A03-D62D-E3C6BEF18D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05118E-E651-B729-45E0-80632663EA5C}"/>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11BDCF71-8FAB-7A5F-F08F-460B56FE3F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0D83F7-E96D-AF25-9CF0-9CF970CABB8F}"/>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2447776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965E96-9ABC-15B2-6FD2-886CF4A91B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78ECD0F-0E8D-5CB2-A238-4BCA1D3D5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C7E500-6E39-3E77-8383-081D68711B17}"/>
              </a:ext>
            </a:extLst>
          </p:cNvPr>
          <p:cNvSpPr>
            <a:spLocks noGrp="1"/>
          </p:cNvSpPr>
          <p:nvPr>
            <p:ph type="dt" sz="half" idx="10"/>
          </p:nvPr>
        </p:nvSpPr>
        <p:spPr/>
        <p:txBody>
          <a:body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68128DE8-B866-0CD4-C5CF-EA20A94FE2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06D565-DF95-6E4C-39BB-1EEF9714C34D}"/>
              </a:ext>
            </a:extLst>
          </p:cNvPr>
          <p:cNvSpPr>
            <a:spLocks noGrp="1"/>
          </p:cNvSpPr>
          <p:nvPr>
            <p:ph type="sldNum" sz="quarter" idx="12"/>
          </p:nvPr>
        </p:nvSpPr>
        <p:spPr/>
        <p:txBody>
          <a:bodyPr/>
          <a:lstStyle/>
          <a:p>
            <a:fld id="{D4C74E55-6783-4FB6-94B7-D5A63D90FD0F}" type="slidenum">
              <a:rPr lang="en-GB" smtClean="0"/>
              <a:t>‹#›</a:t>
            </a:fld>
            <a:endParaRPr lang="en-GB"/>
          </a:p>
        </p:txBody>
      </p:sp>
    </p:spTree>
    <p:extLst>
      <p:ext uri="{BB962C8B-B14F-4D97-AF65-F5344CB8AC3E}">
        <p14:creationId xmlns:p14="http://schemas.microsoft.com/office/powerpoint/2010/main" val="23166118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82F04C-DEC8-2CC0-6F1F-DB6E1DA96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9A8866-BFC3-3A4E-01A5-D3C7ED251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7DD311-5A60-8FFC-8D60-F45664B73F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9C8ABF-50B5-4CDB-A1D5-C8E84460AE70}" type="datetimeFigureOut">
              <a:rPr lang="en-GB" smtClean="0"/>
              <a:t>03/06/2026</a:t>
            </a:fld>
            <a:endParaRPr lang="en-GB"/>
          </a:p>
        </p:txBody>
      </p:sp>
      <p:sp>
        <p:nvSpPr>
          <p:cNvPr id="5" name="Footer Placeholder 4">
            <a:extLst>
              <a:ext uri="{FF2B5EF4-FFF2-40B4-BE49-F238E27FC236}">
                <a16:creationId xmlns:a16="http://schemas.microsoft.com/office/drawing/2014/main" id="{3364E5BB-BFAA-E866-FF56-863351F519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7EE3DF8-49C3-73ED-718A-02A72A0B59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74E55-6783-4FB6-94B7-D5A63D90FD0F}" type="slidenum">
              <a:rPr lang="en-GB" smtClean="0"/>
              <a:t>‹#›</a:t>
            </a:fld>
            <a:endParaRPr lang="en-GB"/>
          </a:p>
        </p:txBody>
      </p:sp>
    </p:spTree>
    <p:extLst>
      <p:ext uri="{BB962C8B-B14F-4D97-AF65-F5344CB8AC3E}">
        <p14:creationId xmlns:p14="http://schemas.microsoft.com/office/powerpoint/2010/main" val="3097362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three-tier architectural diagram showing Task Automation, Decision Support, and Autonomous Execution layers, with clear labels and directional arrows indicating data flow and mandatory human oversight checkpoints.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three-tier architectural diagram showing Task Automation, Decision Support, and Autonomous Execution layers, with clear labels and directional arrows indicating data flow and mandatory human oversight checkpoints.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bar chart comparing baseline vs. AI-agent-assisted processing times across three government functions: permit approvals, benefit claims, and FOIA requests, with clear percentage reduction labels and error bars indicating variance.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risk heat map matrix plotting likelihood vs. impact for four categories: cybersecurity breaches, compliance violations, algorithmic bias incidents, and vendor dependency costs, with color-coded severity zones and clear axis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line graph projecting cumulative costs vs. cumulative savings over a 36-month period, showing the break-even point at month 16, with shaded confidence intervals for budget variance and clear axis scaling.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maturity model radar chart comparing five dimensions: Data Infrastructure, Security Controls, Workforce Readiness, Legal Compliance, and Change Management, with benchmark lines for low, medium, and high readiness tiers.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914400" y="4114800"/>
            <a:ext cx="7315200" cy="1371600"/>
          </a:xfrm>
          <a:prstGeom prst="rect">
            <a:avLst/>
          </a:prstGeom>
          <a:noFill/>
          <a:ln w="12700">
            <a:prstDash val="dash"/>
            <a:solidFill>
              <a:srgbClr val="AAAAAA"/>
            </a:solidFill>
          </a:ln>
        </p:spPr>
        <p:txBody>
          <a:bodyPr wrap="square">
            <a:spAutoFit/>
          </a:bodyPr>
          <a:lstStyle/>
          <a:p>
            <a:pPr algn="ctr"/>
            <a:r>
              <a:rPr sz="1200" i="1">
                <a:solidFill>
                  <a:srgbClr val="888888"/>
                </a:solidFill>
              </a:rPr>
              <a:t>Image showing: A minimalist roadmap timeline graphic showing four milestones: Pilot Approval, Governance Committee Launch, Readiness Assessment Completion, and Quarterly Review Cycle, with clear date placeholders and checkmark icons.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Rauf Mirza Muhammad Shafique-Contractor</dc:creator>
  <cp:lastModifiedBy>Abdul Rauf Mirza Muhammad Shafique-Contractor</cp:lastModifiedBy>
  <cp:revision>1</cp:revision>
  <dcterms:created xsi:type="dcterms:W3CDTF">2026-06-03T07:57:52Z</dcterms:created>
  <dcterms:modified xsi:type="dcterms:W3CDTF">2026-06-03T08:10:55Z</dcterms:modified>
</cp:coreProperties>
</file>