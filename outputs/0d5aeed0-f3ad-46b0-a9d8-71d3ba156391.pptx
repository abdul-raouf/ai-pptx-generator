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3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attendees. This presentation provides a balanced, evidence-based assessment of AI agent deployment across federal and state agencies. We will examine operational benefits, systemic risks, and actionable governance frameworks to guide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what we mean by AI agents versus traditional machine learning. Emphasize autonomy and multi-step execution. Set the stage for why this matters now and how it differs from legacy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benefits strategically, not just tactically. Focus on throughput, resource reallocation, and standardization. These are the primary drivers for leadership investment and justify initial capital outlay.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concrete metrics from recent public sector pilots. Emphasize that ROI is achievable but depends heavily on workflow selection, data quality, and change management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citizen experience. Highlight how agents handle complex, multi-step processes rather than simple chatbots. Emphasize auditability, accessibility, and consistent service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AI agents to strategic policy outcomes. Show how they turn raw data into decision-ready insights. Note the accuracy metrics and time savings that directly impact legislative and executive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risks. Frame them as manageable but critical. Emphasize that ignoring these risks jeopardizes public trust, program viability, and regulatory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technical and compliance risks. Stress that security cannot be an afterthought. Mention zero-trust and continuous monitoring as mandatory safeguards for any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ethical and legal dimensions. Emphasize explainability, human oversight, and clear liability. Public trust is non-negotiable and must be baked into the architecture, not bolted 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discussion in reality. Legacy systems are the biggest bottleneck. Highlight integration timelines and change management costs. Warn against vendor lock-in and emphasize open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financial guidance. Recommend phased rollout. Emphasize contingency planning. Show that ROI is real but requires disciplined scoping and realistic budgeting for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governance structure. Reference existing federal guidelines. Stress documentation, testing, and escalation protocols. This is the compliance backbone that enables safe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path forward. Emphasize phased approach, starting low-risk, scaling carefully, and building internal capacity. This balances innovation with risk management and ensures sustainable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strategy into action. Clear asks for leadership: funding, policy ratification, ownership, and review cadence. This drives decision-making and moves the initiative from concept to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a strong call to action. Reiterate the balance of innovation and responsibility. Thank the audience and open the floor for strategic discussion and formal approval of the proposed pathway.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7117B4D-F55B-07E8-1103-ABCA060EB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103747F-2B09-8BEE-9234-36E918416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84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3A8FBD-1A0C-8D7A-ED79-054BF73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9B38F65-7A12-DE63-C507-20F8AF05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56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3A8FBD-1A0C-8D7A-ED79-054BF73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79B38F65-7A12-DE63-C507-20F8AF057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938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82F04C-DEC8-2CC0-6F1F-DB6E1DA9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39A8866-BFC3-3A4E-01A5-D3C7ED251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362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Integration of AI Agents in Government Operations: Benefits, Risks, and Investment Pathways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agents offer transformative potential for public sector efficiency and service delivery, but require rigorous governance to mitigate security, equity, and implementation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AI Agents in the Public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Distinguish from static AI models: agents plan, act, and adapt to dynamic government workflows</a:t>
            </a:r>
          </a:p>
          <a:p>
            <a:pPr/>
            <a:r>
              <a:t>Target use cases: automated permit processing, fraud detection triage, constituent inquiry routing, and regulatory compliance monitoring</a:t>
            </a:r>
          </a:p>
          <a:p>
            <a:pPr/>
            <a:r>
              <a:t>Current maturity: transitioning from experimental pilots to production-ready deployments in select agencies</a:t>
            </a:r>
          </a:p>
          <a:p>
            <a:pPr/>
            <a:r>
              <a:t>Investment scope: requires upfront infrastructure modernization, workforce upskilling, and continuous model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flowchart diagram contrasting traditional rule-based automation with autonomous AI agent decision loops, highlighting perception, planning, action, and feedback stages.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Strategic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 manual processing time by 40-60% for high-volume, repetitive administrative tasks</a:t>
            </a:r>
          </a:p>
          <a:p>
            <a:pPr/>
            <a:r>
              <a:t>Enable 24/7 constituent support with consistent, policy-compliant responses</a:t>
            </a:r>
          </a:p>
          <a:p>
            <a:pPr/>
            <a:r>
              <a:t>Optimize budget allocation by redirecting human capital to complex, high-impact initiatives</a:t>
            </a:r>
          </a:p>
          <a:p>
            <a:pPr/>
            <a:r>
              <a:t>Standardize compliance checks across decentralized departmental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dashboard-style infographic highlighting four key benefit pillars: speed, availability, resource optimization, and compliance standardization, using government-themed icons.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Quantified Efficiency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Average 52% reduction in document review cycle times across tested agencies</a:t>
            </a:r>
          </a:p>
          <a:p>
            <a:pPr/>
            <a:r>
              <a:t>35% decrease in routine customer service ticket volume routed to human staff</a:t>
            </a:r>
          </a:p>
          <a:p>
            <a:pPr/>
            <a:r>
              <a:t>Projected $12M annual savings per mid-sized agency through labor reallocation and error reduction</a:t>
            </a:r>
          </a:p>
          <a:p>
            <a:pPr/>
            <a:r>
              <a:t>Implementation cost recovery threshold reached at 78% automation coverage of target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bar chart comparing pre- and post-AI agent implementation metrics for processing time, ticket volume, and operational costs, with clear data labels and a 18-24 month ROI timeline marker.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Modernizing Public Service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 multi-step benefit eligibility verification and application routing</a:t>
            </a:r>
          </a:p>
          <a:p>
            <a:pPr/>
            <a:r>
              <a:t>Provide real-time translation and accessibility compliance for diverse populations</a:t>
            </a:r>
          </a:p>
          <a:p>
            <a:pPr/>
            <a:r>
              <a:t>Reduce average case resolution time from 14 days to under 48 hours for standard inquiries</a:t>
            </a:r>
          </a:p>
          <a:p>
            <a:pPr/>
            <a:r>
              <a:t>Maintain immutable audit trails for every automated interaction to ensure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split-screen visual showing a citizen interacting with a streamlined digital portal on the left, and an AI agent orchestrating backend verification steps across multiple databases on the right.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Accelerating Evidence-Based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Cross-reference 10+ disparate agency databases in real time to identify policy gaps</a:t>
            </a:r>
          </a:p>
          <a:p>
            <a:pPr/>
            <a:r>
              <a:t>Generate predictive models for resource allocation during emergency response scenarios</a:t>
            </a:r>
          </a:p>
          <a:p>
            <a:pPr/>
            <a:r>
              <a:t>Reduce data preparation time for legislative briefings by 70%</a:t>
            </a:r>
          </a:p>
          <a:p>
            <a:pPr/>
            <a:r>
              <a:t>Flag anomalous spending patterns with 94% accuracy in procurement audits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network visualization showing data nodes from different government departments converging into a central AI processing hub, outputting clear policy recommendation cards.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Risk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Cybersecurity exposure through expanded attack surfaces and prompt injection vulnerabilities</a:t>
            </a:r>
          </a:p>
          <a:p>
            <a:pPr/>
            <a:r>
              <a:t>Algorithmic bias perpetuating historical inequities in benefit distribution and enforcement</a:t>
            </a:r>
          </a:p>
          <a:p>
            <a:pPr/>
            <a:r>
              <a:t>Accountability gaps when autonomous decisions impact citizen rights or public funds</a:t>
            </a:r>
          </a:p>
          <a:p>
            <a:pPr/>
            <a:r>
              <a:t>Workforce displacement anxiety and resistance to workflow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risk matrix quadrant chart categorizing threats into Security, Equity, Accountability, and Organizational Change, with severity and likelihood indicators.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and Data Protection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Multi-step agent workflows increase attack vectors for prompt injection and data exfiltration</a:t>
            </a:r>
          </a:p>
          <a:p>
            <a:pPr/>
            <a:r>
              <a:t>Federated learning limitations complicate real-time threat detection across isolated agency networks</a:t>
            </a:r>
          </a:p>
          <a:p>
            <a:pPr/>
            <a:r>
              <a:t>Non-compliance with GDPR, HIPAA, or state privacy laws risks substantial legal penalties</a:t>
            </a:r>
          </a:p>
          <a:p>
            <a:pPr/>
            <a:r>
              <a:t>Requires zero-trust architecture and continuous model monitoring to prevent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shield icon overlaid with a digital lock, surrounded by warning symbols representing data breaches, prompt injection, and compliance violations, set against a secure network background.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Ensuring Fairness and Public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Training data reflecting historical disparities can automate discriminatory outcomes in housing, benefits, or law enforcement</a:t>
            </a:r>
          </a:p>
          <a:p>
            <a:pPr/>
            <a:r>
              <a:t>Lack of explainability in deep learning models complicates regulatory oversight and citizen appeals</a:t>
            </a:r>
          </a:p>
          <a:p>
            <a:pPr/>
            <a:r>
              <a:t>Requires mandatory bias auditing, human-in-the-loop validation, and transparent decision logs</a:t>
            </a:r>
          </a:p>
          <a:p>
            <a:pPr/>
            <a:r>
              <a:t>Establishes clear liability frameworks for agency directors when agent errors cause harm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balanced scale graphic with one side showing an AI chip and the other showing a gavel, symbolizing the tension between automation and legal/ethical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and Organizational Hurdles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68% of target agencies lack modern API gateways required for agent integration</a:t>
            </a:r>
          </a:p>
          <a:p>
            <a:pPr/>
            <a:r>
              <a:t>Data standardization efforts average 9-12 months before agent onboarding can begin</a:t>
            </a:r>
          </a:p>
          <a:p>
            <a:pPr/>
            <a:r>
              <a:t>Vendor lock-in risks increase when proprietary models are embedded in critical workflows</a:t>
            </a:r>
          </a:p>
          <a:p>
            <a:pPr/>
            <a:r>
              <a:t>Change management costs account for 30% of total project budgets in initial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timeline Gantt chart showing typical implementation phases: legacy assessment, data standardization, API development, pilot deployment, and full scale, with cost distribution markers.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Viability and Investment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Initial capital outlay ranges from $2M-$8M per agency depending on infrastructure maturity</a:t>
            </a:r>
          </a:p>
          <a:p>
            <a:pPr/>
            <a:r>
              <a:t>Operational savings compound annually as model accuracy improves and manual oversight decreases</a:t>
            </a:r>
          </a:p>
          <a:p>
            <a:pPr/>
            <a:r>
              <a:t>Break-even analysis favors phased rollout over enterprise-wide simultaneous deployment</a:t>
            </a:r>
          </a:p>
          <a:p>
            <a:pPr/>
            <a:r>
              <a:t>Contingency reserves of 15-20% required for model retraining and compliance audits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line graph plotting cumulative investment versus cumulative savings over a 5-year period, clearly marking the break-even point at month 22 and projecting long-term ROI.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Mandatory Governance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Establish AI oversight committees with cross-departmental representation and audit authority</a:t>
            </a:r>
          </a:p>
          <a:p>
            <a:pPr/>
            <a:r>
              <a:t>Implement model cards and system cards documenting capabilities, limitations, and intended use</a:t>
            </a:r>
          </a:p>
          <a:p>
            <a:pPr/>
            <a:r>
              <a:t>Mandate quarterly bias testing and security penetration assessments for all production agents</a:t>
            </a:r>
          </a:p>
          <a:p>
            <a:pPr/>
            <a:r>
              <a:t>Define clear escalation protocols for agent failures or citizen complaints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structured governance pyramid showing foundational compliance, operational monitoring, strategic oversight, and executive accountability layers, with policy document icons at each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Pilot 3-5 non-critical administrative workflows with full human oversight</a:t>
            </a:r>
          </a:p>
          <a:p>
            <a:pPr/>
            <a:r>
              <a:t>Phase 2: Expand to citizen-facing services with integrated bias monitoring and feedback loops</a:t>
            </a:r>
          </a:p>
          <a:p>
            <a:pPr/>
            <a:r>
              <a:t>Phase 3: Integrate cross-agency data pipelines for predictive policy and resource optimization</a:t>
            </a:r>
          </a:p>
          <a:p>
            <a:pPr/>
            <a:r>
              <a:t>Continuous: Invest in workforce training and establish an internal AI center of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three-step roadmap graphic with clear milestones, risk indicators, and success metrics for each phase, leading to a central AI Center of Excellence hub.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and Policy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Approve $5M seed funding for cross-agency pilot program and infrastructure modernization</a:t>
            </a:r>
          </a:p>
          <a:p>
            <a:pPr/>
            <a:r>
              <a:t>Ratify standardized AI governance framework by Q3 to align with federal compliance mandates</a:t>
            </a:r>
          </a:p>
          <a:p>
            <a:pPr/>
            <a:r>
              <a:t>Assign departmental AI champions responsible for workflow selection and change management</a:t>
            </a:r>
          </a:p>
          <a:p>
            <a:pPr/>
            <a:r>
              <a:t>Schedule quarterly review boards to assess performance, security posture, and equity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checklist-style graphic highlighting four immediate action items with approval stamps, funding allocation icons, and calendar markers for quarterly reviews.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and Strategic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Convene interagency working group within 30 days to finalize pilot scope and success criteria</a:t>
            </a:r>
          </a:p>
          <a:p>
            <a:pPr/>
            <a:r>
              <a:t>Allocate budget authority for infrastructure upgrades and vendor evaluation processes</a:t>
            </a:r>
          </a:p>
          <a:p>
            <a:pPr/>
            <a:r>
              <a:t>Publish transparent AI deployment guidelines to maintain public trust and regulatory compliance</a:t>
            </a:r>
          </a:p>
          <a:p>
            <a:pPr/>
            <a:r>
              <a:t>Commit to iterative evaluation, scaling only when security, equity, and efficiency thresholds are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  <a:ln w="12700">
            <a:prstDash val="dash"/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888888"/>
                </a:solidFill>
              </a:rPr>
              <a:t>Image showing: A forward-looking visual of a digital pathway extending from a government seal toward a horizon of connected data nodes, symbolizing responsible technological advancement and strategic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Rauf Mirza Muhammad Shafique-Contractor</dc:creator>
  <cp:lastModifiedBy>Abdul Rauf Mirza Muhammad Shafique-Contractor</cp:lastModifiedBy>
  <cp:revision>2</cp:revision>
  <dcterms:created xsi:type="dcterms:W3CDTF">2026-06-03T07:57:52Z</dcterms:created>
  <dcterms:modified xsi:type="dcterms:W3CDTF">2026-06-03T08:45:26Z</dcterms:modified>
</cp:coreProperties>
</file>